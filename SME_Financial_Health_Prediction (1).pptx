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2560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Financial Health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Challenge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Financial Well-Being of Small Businesses Across Southern Africa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1645920" cy="82296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538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3520440"/>
            <a:ext cx="1645920" cy="82296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538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520440"/>
            <a:ext cx="1645920" cy="82296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538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3520440"/>
            <a:ext cx="1645920" cy="82296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3538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Zindi  ·  data.org  ·  FinMark Trust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metrics fail SMEs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Fragility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25603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don't reveal cash-flow volatility, debt burden, or resilience to shocks like illness or droughts.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7432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3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Exclusion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83280" y="25603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43M+ SMEs across Southern Africa lack access to formal credit because lenders can't assess their true risk profile.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34440"/>
            <a:ext cx="274320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173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Blind Spots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55080" y="25603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&amp; NGOs lack data-driven tools to identify which businesses need urgent support or intervention.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Eswatini · Lesotho · Zimbabwe · Malawi — 4 Southern African nations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Financial Health Index (FHI)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score across 4 dimensions — classifying SMEs as Low, Medium, or High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011680" cy="3200400"/>
          </a:xfrm>
          <a:prstGeom prst="rect">
            <a:avLst/>
          </a:prstGeom>
          <a:solidFill>
            <a:srgbClr val="1E8449">
              <a:alpha val="12000"/>
            </a:srgbClr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01168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449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&amp; Assets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business save? What assets does it hold? Can it buffer income shocks?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1188720"/>
            <a:ext cx="2011680" cy="3200400"/>
          </a:xfrm>
          <a:prstGeom prst="rect">
            <a:avLst/>
          </a:prstGeom>
          <a:solidFill>
            <a:srgbClr val="C0392B">
              <a:alpha val="12000"/>
            </a:srgbClr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188720"/>
            <a:ext cx="20116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&amp; Repayment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74320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debt load? Can the business meet repayment obligations consistently?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2011680" cy="3200400"/>
          </a:xfrm>
          <a:prstGeom prst="rect">
            <a:avLst/>
          </a:prstGeom>
          <a:solidFill>
            <a:srgbClr val="F5A623">
              <a:alpha val="12000"/>
            </a:srgbClr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88720"/>
            <a:ext cx="201168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to Shocks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74320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coverage, informal safety nets, and ability to withstand external disruptions.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2011680" cy="3200400"/>
          </a:xfrm>
          <a:prstGeom prst="rect">
            <a:avLst/>
          </a:prstGeom>
          <a:solidFill>
            <a:srgbClr val="2E86AB">
              <a:alpha val="12000"/>
            </a:srgbClr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188720"/>
            <a:ext cx="20116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Finance Access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74320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services, mobile money, credit cards, loans — formal financial inclusion.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Output: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51760" y="4526280"/>
            <a:ext cx="18288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–  Vulnerable, high risk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526280"/>
            <a:ext cx="18288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–  Moderate stability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526280"/>
            <a:ext cx="182880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–  Resilient, well-served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socio-economic and business survey data from 4 Southern African nations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2011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Eswatini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1.1M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GDP: $4.5B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920240" cy="2011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Lesotho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2316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2.2M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GDP: $2.5B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1920240" cy="2011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15M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GDP: $21B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143000"/>
            <a:ext cx="1920240" cy="2011680"/>
          </a:xfrm>
          <a:prstGeom prst="rect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Malawi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208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20M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GDP: $12B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 in the Dataset: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749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3749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education, household size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7490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3749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3749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size, age, turnover, expenses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3749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37490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mobile money, loans, insurance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2976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Attitudes &amp; Records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45920" y="42976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Record-keeping, future outlook, credit offered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429768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37560" y="42976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&amp; Location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2976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Exports, imports, geographic region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end-to-end machine learning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651760" cy="1645920"/>
          </a:xfrm>
          <a:prstGeom prst="rect">
            <a:avLst/>
          </a:prstGeom>
          <a:solidFill>
            <a:srgbClr val="1B4F72">
              <a:alpha val="10000"/>
            </a:srgbClr>
          </a:solidFill>
          <a:ln w="254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52728"/>
            <a:ext cx="502920" cy="5029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Train/Test CSVs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normalization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45920"/>
          </a:xfrm>
          <a:prstGeom prst="rect">
            <a:avLst/>
          </a:prstGeom>
          <a:solidFill>
            <a:srgbClr val="2E86AB">
              <a:alpha val="10000"/>
            </a:srgbClr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52728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8562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engineered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scores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Log/sqrt transforms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51760" cy="1645920"/>
          </a:xfrm>
          <a:prstGeom prst="rect">
            <a:avLst/>
          </a:prstGeom>
          <a:solidFill>
            <a:srgbClr val="1E8449">
              <a:alpha val="10000"/>
            </a:srgbClr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52728"/>
            <a:ext cx="502920" cy="5029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8562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Country-grouped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median/mode fills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063240"/>
            <a:ext cx="2651760" cy="1645920"/>
          </a:xfrm>
          <a:prstGeom prst="rect">
            <a:avLst/>
          </a:prstGeom>
          <a:solidFill>
            <a:srgbClr val="884EA0">
              <a:alpha val="10000"/>
            </a:srgbClr>
          </a:solidFill>
          <a:ln w="25400">
            <a:solidFill>
              <a:srgbClr val="884E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72968"/>
            <a:ext cx="502920" cy="502920"/>
          </a:xfrm>
          <a:prstGeom prst="ellipse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172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7764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on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train+test fit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063240"/>
            <a:ext cx="2651760" cy="1645920"/>
          </a:xfrm>
          <a:prstGeom prst="rect">
            <a:avLst/>
          </a:prstGeom>
          <a:solidFill>
            <a:srgbClr val="C0392B">
              <a:alpha val="10000"/>
            </a:srgbClr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172968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40480" y="3172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CV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46120" y="37764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inside folds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063240"/>
            <a:ext cx="2651760" cy="1645920"/>
          </a:xfrm>
          <a:prstGeom prst="rect">
            <a:avLst/>
          </a:prstGeom>
          <a:solidFill>
            <a:srgbClr val="F5A623">
              <a:alpha val="10000"/>
            </a:srgbClr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17296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66560" y="3172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Predict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7764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35% + GB 40%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ET 25% blend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Deep 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features that capture financial resilience beyond raw numbers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Attitude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64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financial_access_score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18470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Sum: credit card + debit + internet banking + loan + mobile money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2286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Sum: health + funeral + motor vehicle insurance held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542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total_financial_score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" y="2724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banking + insurance inclusion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positive_attitude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" y="31638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environment AND more successful next year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419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worried_business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" y="36027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business shutdown risk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58768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uses_informal_finance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" y="4041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moneylender or friends/family savings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4297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keeps_records_flag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" y="4480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formal financial records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09728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097280"/>
            <a:ext cx="429768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Ratio Features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664208"/>
            <a:ext cx="73152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1664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profit_proxy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18888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− expenses (profitability estimate)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103120"/>
            <a:ext cx="73152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103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expense_ratio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18888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÷ (turnover + 1)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542032"/>
            <a:ext cx="73152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542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income_vs_expense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2724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income ÷ (expenses + 1)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980944"/>
            <a:ext cx="73152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2980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turnover_per_age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18888" y="3163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÷ owner age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419856"/>
            <a:ext cx="73152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turnover_per_year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18888" y="3602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÷ business age in years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858768"/>
            <a:ext cx="73152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/ sqrt transforms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18888" y="4041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income, expenses, turnover, profit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297680"/>
            <a:ext cx="73152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is_new / is_mature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18888" y="4480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age flags (≤1yr new, ≥5yr mature)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Weighted Ensemble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learners combined for maximum F1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3749040"/>
          </a:xfrm>
          <a:prstGeom prst="rect">
            <a:avLst/>
          </a:prstGeom>
          <a:solidFill>
            <a:srgbClr val="1B4F72">
              <a:alpha val="8000"/>
            </a:srgbClr>
          </a:solidFill>
          <a:ln w="254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1161288"/>
            <a:ext cx="65836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1612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148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estimators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496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max_features: sqrt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843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class_weight: balanced_subsample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191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min_samples_leaf: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11880"/>
            <a:ext cx="2560320" cy="73152"/>
          </a:xfrm>
          <a:prstGeom prst="rect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Robust to outliers, great diversity via bagging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C0392B">
              <a:alpha val="8000"/>
            </a:srgbClr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1161288"/>
            <a:ext cx="65836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1612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148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estimators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496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0.03, depth: 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843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 0.8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191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max_features: sqrt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611880"/>
            <a:ext cx="2560320" cy="73152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Highest single-model performance, sequential error correction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097280"/>
            <a:ext cx="2743200" cy="3749040"/>
          </a:xfrm>
          <a:prstGeom prst="rect">
            <a:avLst/>
          </a:prstGeom>
          <a:solidFill>
            <a:srgbClr val="1E8449">
              <a:alpha val="8000"/>
            </a:srgbClr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097280"/>
            <a:ext cx="274320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097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83880" y="1161288"/>
            <a:ext cx="65836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11612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2148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estimators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496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max_features: sqrt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2843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class_weight: balanced_subsample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191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randomization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611880"/>
            <a:ext cx="2560320" cy="73152"/>
          </a:xfrm>
          <a:prstGeom prst="rect">
            <a:avLst/>
          </a:prstGeom>
          <a:solidFill>
            <a:srgbClr val="1E8449">
              <a:alpha val="40000"/>
            </a:srgbClr>
          </a:solidFill>
          <a:ln w="12700">
            <a:solidFill>
              <a:srgbClr val="1E8449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Diverse predictions, fast, anti-overfitting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RF × 0.35 + GB × 0.40 + ET × 0.25   →   argmax over Low / Medium / High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with SMOTE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Over-sampling Technique applied inside each fold to prevent leakage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Class Distribution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160934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3784" y="1737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2560320"/>
            <a:ext cx="965606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0046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3337560"/>
            <a:ext cx="35113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5570" y="3291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Imbalanced data biases models toward the majority class (Low), causing poor recall for High — the most impactful class for lending decisions.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1704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Strategy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746504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inside folds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1947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leakage — validation set stays natural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340864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k_neighbors =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samples using 5 nearest neighbors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935224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all 3 classes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representation enables unbiased learning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29584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class_weight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protection: SMOTE + balanced_subsample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4123944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(5 splits)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 preserves original class proportions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4572000" cy="4572000"/>
          </a:xfrm>
          <a:prstGeom prst="ellipse">
            <a:avLst/>
          </a:prstGeom>
          <a:solidFill>
            <a:srgbClr val="1B4F72">
              <a:alpha val="20000"/>
            </a:srgbClr>
          </a:solidFill>
          <a:ln w="12700">
            <a:solidFill>
              <a:srgbClr val="1B4F72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+ Final Leaderboard Score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926080" cy="2560320"/>
          </a:xfrm>
          <a:prstGeom prst="rect">
            <a:avLst/>
          </a:prstGeom>
          <a:solidFill>
            <a:srgbClr val="F5A623">
              <a:alpha val="90000"/>
            </a:srgbClr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F1 by Model: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53035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1924812" cy="530352"/>
          </a:xfrm>
          <a:prstGeom prst="rect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916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16916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0.8621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2331720"/>
            <a:ext cx="53035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331720"/>
            <a:ext cx="2532888" cy="530352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331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233172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2971800"/>
            <a:ext cx="53035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971800"/>
            <a:ext cx="1796796" cy="530352"/>
          </a:xfrm>
          <a:prstGeom prst="rect">
            <a:avLst/>
          </a:prstGeom>
          <a:solidFill>
            <a:srgbClr val="1E8449">
              <a:alpha val="40000"/>
            </a:srgbClr>
          </a:solidFill>
          <a:ln w="12700">
            <a:solidFill>
              <a:srgbClr val="1E8449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9718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297180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0.8593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74720" y="3611880"/>
            <a:ext cx="53035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3611880"/>
            <a:ext cx="2793492" cy="530352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611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36118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4206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(Final Model):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4572000"/>
            <a:ext cx="1645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4572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0.91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4572000"/>
            <a:ext cx="16459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4572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0.87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40880" y="4572000"/>
            <a:ext cx="164592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4572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0.88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SME financial health predictions? (Random Forest importance scores)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133856"/>
            <a:ext cx="5303520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1133856"/>
            <a:ext cx="548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financial_access_score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10972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461211"/>
            <a:ext cx="4640580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461211"/>
            <a:ext cx="548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24635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total_financial_score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0" y="1424635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788566"/>
            <a:ext cx="4214404" cy="256032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B4F72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788566"/>
            <a:ext cx="54864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5199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business_turnover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175199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2115922"/>
            <a:ext cx="3882934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115922"/>
            <a:ext cx="548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934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log_business_turnover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07934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2443277"/>
            <a:ext cx="3551464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2443277"/>
            <a:ext cx="548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0670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profit_proxy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406701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2770632"/>
            <a:ext cx="3219994" cy="256032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B4F72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770632"/>
            <a:ext cx="54864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7340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personal_income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273405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0" y="3097987"/>
            <a:ext cx="2888524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3097987"/>
            <a:ext cx="548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6141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3061411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3425342"/>
            <a:ext cx="2699113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3425342"/>
            <a:ext cx="548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8876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expense_ratio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338876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3752698"/>
            <a:ext cx="2320290" cy="256032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B4F72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752698"/>
            <a:ext cx="54864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71612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business_expenses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371612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17520" y="4080053"/>
            <a:ext cx="1988820" cy="256032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4080053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043477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keeps_records_flag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4043477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17520" y="4407408"/>
            <a:ext cx="1799409" cy="256032"/>
          </a:xfrm>
          <a:prstGeom prst="rect">
            <a:avLst/>
          </a:prstGeom>
          <a:solidFill>
            <a:srgbClr val="1E8449">
              <a:alpha val="70000"/>
            </a:srgbClr>
          </a:solidFill>
          <a:ln w="12700">
            <a:solidFill>
              <a:srgbClr val="1E8449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4407408"/>
            <a:ext cx="54864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370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has_mobile_money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43708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017520" y="4734763"/>
            <a:ext cx="1657350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4734763"/>
            <a:ext cx="548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698187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log_personal_income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0" y="4698187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773168"/>
            <a:ext cx="228600" cy="2011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68880" y="4773168"/>
            <a:ext cx="228600" cy="2011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4773168"/>
            <a:ext cx="2286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0" y="4773168"/>
            <a:ext cx="228600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Business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— and how does this model change the landscape?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73152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9933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subjective credit assessments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73152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6517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SME risk with 89%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19856"/>
            <a:ext cx="73152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310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loan portfolios safely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78224"/>
            <a:ext cx="73152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9684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non-performing loan rates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97280"/>
            <a:ext cx="2743200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&amp; NGOs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2103120"/>
            <a:ext cx="73152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19933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most vulnerable SMEs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761488"/>
            <a:ext cx="73152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6517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subsidies and grants effectively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419856"/>
            <a:ext cx="73152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310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financial inclusion progress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4078224"/>
            <a:ext cx="73152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9684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evidence-based policies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1097280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097280"/>
            <a:ext cx="27432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Themselves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2103120"/>
            <a:ext cx="73152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19933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credit they previously couldn't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761488"/>
            <a:ext cx="73152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6517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tailored financial education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419856"/>
            <a:ext cx="73152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33101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appropriate support programs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4078224"/>
            <a:ext cx="73152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39684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financial resilience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discovered — and what made the difference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9144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features &gt; raw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financial_access_score, insurance_score, and profit_proxy contributed more than any raw column. Domain knowledge is irreplaceable.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9144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16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leads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81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(40% weight) consistently outperformed RF and ET on minority classes — its sequential error correction helps the hardest samples.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23160"/>
            <a:ext cx="9144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placement matters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62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SMOTE inside folds (not before CV split) was critical to avoiding data leakage and getting honest validation scores.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23160"/>
            <a:ext cx="9144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Country-grouped imputation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862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missing values using country-level medians/modes preserved regional economic context better than global imputation.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03320"/>
            <a:ext cx="9144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76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was the key challenge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42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'High' health businesses were only ~12% of data. Without SMOTE + class_weight, the model ignored them completely.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03320"/>
            <a:ext cx="9144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776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diversity pays off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142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algorithms each contributed — the ensemble beat every single model on cross-validation by ~1-2% F1.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domain expertise, careful feature engineering, and a diverse ensemble — we achieved an 89% F1 score predicting SME financial health across 4 Southern African nations.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57400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goes beyond profit — resilience, savings, and access matter equally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78608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democratize credit access for millions of underserved businesses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91256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981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Domain-engineered features outperformed raw survey variables in all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2102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stratified cross-validation provided honest, leakage-free evaluation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142232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is replicable across any developing economy with survey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Zindi Challenge  ·  data.org  ·  FinMark Trust  ·  Southern Africa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 Financial Health Prediction – Zindi Challenge</dc:title>
  <dc:subject>PptxGenJS Presentation</dc:subject>
  <dc:creator>PptxGenJS</dc:creator>
  <cp:lastModifiedBy>PptxGenJS</cp:lastModifiedBy>
  <cp:revision>1</cp:revision>
  <dcterms:created xsi:type="dcterms:W3CDTF">2026-03-10T07:27:59Z</dcterms:created>
  <dcterms:modified xsi:type="dcterms:W3CDTF">2026-03-10T07:27:59Z</dcterms:modified>
</cp:coreProperties>
</file>