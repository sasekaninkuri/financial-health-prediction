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023360" cy="2286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256032"/>
            <a:ext cx="4023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Africa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 Markets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697480"/>
            <a:ext cx="1920240" cy="22128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2697480"/>
            <a:ext cx="192024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377440" y="2697480"/>
            <a:ext cx="1965960" cy="221284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77440" y="2697480"/>
            <a:ext cx="196596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846320" y="365760"/>
            <a:ext cx="3977640" cy="640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502920"/>
            <a:ext cx="39776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Index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Small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846320" y="349300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Resilience Beyond Profit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846320" y="4160520"/>
            <a:ext cx="1737360" cy="3200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4160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Eswatini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0" y="4160520"/>
            <a:ext cx="1737360" cy="3200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4160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Lesotho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4553712"/>
            <a:ext cx="1737360" cy="3200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45537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Malawi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66560" y="4553712"/>
            <a:ext cx="1737360" cy="3200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45537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Zimbabwe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4956048"/>
            <a:ext cx="3977640" cy="640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small businesses across Southern Africa are financially fragile — yet invisible to banks, governments, and support systems.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89120" y="320040"/>
            <a:ext cx="4480560" cy="1389888"/>
          </a:xfrm>
          <a:prstGeom prst="rect">
            <a:avLst/>
          </a:prstGeom>
          <a:solidFill>
            <a:srgbClr val="F7F7F7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89120" y="320040"/>
            <a:ext cx="91440" cy="1389888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667512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166360" y="4114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4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43M+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5166360" y="103327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excluded from formal credit across Southern Africa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89120" y="1874520"/>
            <a:ext cx="4480560" cy="1389888"/>
          </a:xfrm>
          <a:prstGeom prst="rect">
            <a:avLst/>
          </a:prstGeom>
          <a:solidFill>
            <a:srgbClr val="F7F7F7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89120" y="1874520"/>
            <a:ext cx="91440" cy="138988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221992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66360" y="1965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3600" dirty="0"/>
          </a:p>
        </p:txBody>
      </p:sp>
      <p:sp>
        <p:nvSpPr>
          <p:cNvPr id="15" name="Text 11"/>
          <p:cNvSpPr/>
          <p:nvPr/>
        </p:nvSpPr>
        <p:spPr>
          <a:xfrm>
            <a:off x="5166360" y="258775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small businesses fail within 5 years due to financial shocks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389120" y="3429000"/>
            <a:ext cx="4480560" cy="1389888"/>
          </a:xfrm>
          <a:prstGeom prst="rect">
            <a:avLst/>
          </a:prstGeom>
          <a:solidFill>
            <a:srgbClr val="F7F7F7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389120" y="3429000"/>
            <a:ext cx="91440" cy="138988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3776472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66360" y="3520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20" name="Text 15"/>
          <p:cNvSpPr/>
          <p:nvPr/>
        </p:nvSpPr>
        <p:spPr>
          <a:xfrm>
            <a:off x="5166360" y="414223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holistic tools exist to measure true SME health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Profit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Isn't Enough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11480" y="1920240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8288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and governments only focus on profit — a snapshot of today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2697480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6060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doesn't show if businesses can survive crises like illness or drought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3474720"/>
            <a:ext cx="274320" cy="274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3832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businesses are the backbone of the economy in all 4 countries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023360" y="228600"/>
            <a:ext cx="4800600" cy="4681728"/>
          </a:xfrm>
          <a:prstGeom prst="rect">
            <a:avLst/>
          </a:prstGeom>
          <a:solidFill>
            <a:srgbClr val="F7F7F7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292608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 vs  Resilience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160520" y="960120"/>
            <a:ext cx="2148840" cy="4114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0520" y="9601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(Today)</a:t>
            </a:r>
            <a:endParaRPr lang="en-US" sz="13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1508760"/>
            <a:ext cx="320040" cy="3200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663440" y="14813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if you made money now</a:t>
            </a:r>
            <a:endParaRPr lang="en-US" sz="11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2331720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663440" y="23042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only — one moment</a:t>
            </a:r>
            <a:endParaRPr lang="en-US" sz="11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315468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63440" y="31272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emergencies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446520" y="960120"/>
            <a:ext cx="2240280" cy="411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446520" y="9601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(Long-Term)</a:t>
            </a:r>
            <a:endParaRPr lang="en-US" sz="12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50876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49440" y="14813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if you can survive crises</a:t>
            </a:r>
            <a:endParaRPr lang="en-US" sz="11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233172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949440" y="23042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Holistic: Savings, Debt, Recovery</a:t>
            </a:r>
            <a:endParaRPr lang="en-US" sz="11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3154680"/>
            <a:ext cx="320040" cy="32004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949440" y="31272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plan for Rainy Days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4160520" y="4160520"/>
            <a:ext cx="4526280" cy="5029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4160520" y="416052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BOTH — and machine learning delivers it.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Index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(FHI)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2971800"/>
            <a:ext cx="64008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28803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Holistic health check — </a:t>
            </a:r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beyond income to measure real stability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3355848"/>
            <a:ext cx="64008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26440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Resilience — </a:t>
            </a:r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profit — actual survival ability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3739896"/>
            <a:ext cx="64008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64845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— </a:t>
            </a:r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net available when crises hit?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4123944"/>
            <a:ext cx="64008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403250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— </a:t>
            </a:r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they manage what they owe?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4507992"/>
            <a:ext cx="64008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441655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— </a:t>
            </a:r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they bounce back from a shock?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0" y="228600"/>
            <a:ext cx="4709160" cy="457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2286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Health Index  (FHI)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160520" y="822960"/>
            <a:ext cx="1463040" cy="4114800"/>
          </a:xfrm>
          <a:prstGeom prst="rect">
            <a:avLst/>
          </a:prstGeom>
          <a:solidFill>
            <a:srgbClr val="F7F7F7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60520" y="822960"/>
            <a:ext cx="146304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60520" y="9144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897B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4434840" y="1627632"/>
            <a:ext cx="914400" cy="914400"/>
          </a:xfrm>
          <a:prstGeom prst="rect">
            <a:avLst/>
          </a:prstGeom>
          <a:solidFill>
            <a:srgbClr val="00897B">
              <a:alpha val="15000"/>
            </a:srgbClr>
          </a:solidFill>
          <a:ln w="12700">
            <a:solidFill>
              <a:srgbClr val="00897B">
                <a:alpha val="15000"/>
              </a:srgbClr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719072"/>
            <a:ext cx="640080" cy="64008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160520" y="26700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4251960" y="32004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they have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safety net?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733288" y="822960"/>
            <a:ext cx="1463040" cy="4114800"/>
          </a:xfrm>
          <a:prstGeom prst="rect">
            <a:avLst/>
          </a:prstGeom>
          <a:solidFill>
            <a:srgbClr val="F7F7F7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733288" y="822960"/>
            <a:ext cx="1463040" cy="640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733288" y="9144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A825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27" name="Shape 24"/>
          <p:cNvSpPr/>
          <p:nvPr/>
        </p:nvSpPr>
        <p:spPr>
          <a:xfrm>
            <a:off x="6007608" y="1627632"/>
            <a:ext cx="914400" cy="914400"/>
          </a:xfrm>
          <a:prstGeom prst="rect">
            <a:avLst/>
          </a:prstGeom>
          <a:solidFill>
            <a:srgbClr val="F9A825">
              <a:alpha val="15000"/>
            </a:srgbClr>
          </a:solidFill>
          <a:ln w="12700">
            <a:solidFill>
              <a:srgbClr val="F9A825">
                <a:alpha val="15000"/>
              </a:srgbClr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719072"/>
            <a:ext cx="640080" cy="64008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733288" y="26700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</a:t>
            </a:r>
            <a:endParaRPr lang="en-US" sz="1800" dirty="0"/>
          </a:p>
        </p:txBody>
      </p:sp>
      <p:sp>
        <p:nvSpPr>
          <p:cNvPr id="30" name="Text 26"/>
          <p:cNvSpPr/>
          <p:nvPr/>
        </p:nvSpPr>
        <p:spPr>
          <a:xfrm>
            <a:off x="5824728" y="32004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they manage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owe?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7306056" y="822960"/>
            <a:ext cx="1463040" cy="4114800"/>
          </a:xfrm>
          <a:prstGeom prst="rect">
            <a:avLst/>
          </a:prstGeom>
          <a:solidFill>
            <a:srgbClr val="F7F7F7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7306056" y="822960"/>
            <a:ext cx="1463040" cy="64008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306056" y="9144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4A19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34" name="Shape 30"/>
          <p:cNvSpPr/>
          <p:nvPr/>
        </p:nvSpPr>
        <p:spPr>
          <a:xfrm>
            <a:off x="7580376" y="1627632"/>
            <a:ext cx="914400" cy="914400"/>
          </a:xfrm>
          <a:prstGeom prst="rect">
            <a:avLst/>
          </a:prstGeom>
          <a:solidFill>
            <a:srgbClr val="E64A19">
              <a:alpha val="15000"/>
            </a:srgbClr>
          </a:solidFill>
          <a:ln w="12700">
            <a:solidFill>
              <a:srgbClr val="E64A19">
                <a:alpha val="15000"/>
              </a:srgbClr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36" y="1719072"/>
            <a:ext cx="640080" cy="64008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7306056" y="26700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4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800" dirty="0"/>
          </a:p>
        </p:txBody>
      </p:sp>
      <p:sp>
        <p:nvSpPr>
          <p:cNvPr id="37" name="Text 32"/>
          <p:cNvSpPr/>
          <p:nvPr/>
        </p:nvSpPr>
        <p:spPr>
          <a:xfrm>
            <a:off x="7397496" y="32004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they bounce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from a crisis?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7432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to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474720" y="502920"/>
            <a:ext cx="2514600" cy="283464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392" y="73152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566160" y="1810512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MACHINE LEARNING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PREDICT BUSINESS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HEALTH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566160" y="29992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survey data from 4 nations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63640" y="502920"/>
            <a:ext cx="2514600" cy="2834640"/>
          </a:xfrm>
          <a:prstGeom prst="rect">
            <a:avLst/>
          </a:prstGeom>
          <a:solidFill>
            <a:srgbClr val="FBE9E7"/>
          </a:solidFill>
          <a:ln w="12700">
            <a:solidFill>
              <a:srgbClr val="E64A1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312" y="731520"/>
            <a:ext cx="914400" cy="914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55080" y="1810512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 BUSINESSES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INTO: LOW, MEDIUM,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HIGH HEALTH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355080" y="29992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64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3-class classification output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11480" y="342900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Classifications: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11480" y="3858768"/>
            <a:ext cx="2697480" cy="1024128"/>
          </a:xfrm>
          <a:prstGeom prst="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11480" y="3858768"/>
            <a:ext cx="2697480" cy="64008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21208" y="3950208"/>
            <a:ext cx="2478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4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HEALTH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21208" y="4352544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Struggling, No Savings, High Debt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291840" y="3858768"/>
            <a:ext cx="2697480" cy="1024128"/>
          </a:xfrm>
          <a:prstGeom prst="rect">
            <a:avLst/>
          </a:prstGeom>
          <a:solidFill>
            <a:srgbClr val="FFFDE7"/>
          </a:solidFill>
          <a:ln w="19050">
            <a:solidFill>
              <a:srgbClr val="F9A82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291840" y="3858768"/>
            <a:ext cx="2697480" cy="640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401568" y="3950208"/>
            <a:ext cx="2478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HEALTH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3401568" y="4352544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Okay, but Vulnerable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172200" y="3858768"/>
            <a:ext cx="2697480" cy="1024128"/>
          </a:xfrm>
          <a:prstGeom prst="rect">
            <a:avLst/>
          </a:prstGeom>
          <a:solidFill>
            <a:srgbClr val="E0F2F1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172200" y="3858768"/>
            <a:ext cx="269748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281928" y="3950208"/>
            <a:ext cx="2478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HEALTH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281928" y="4352544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Strong, Safe, Able to Grow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28600"/>
            <a:ext cx="3840480" cy="21945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22860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Owners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560320"/>
            <a:ext cx="3840480" cy="228600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256032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Traders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26280" y="22860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It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26280" y="1298448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Data Clues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26280" y="2002536"/>
            <a:ext cx="411480" cy="4114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2020824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47488" y="18745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They Are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47488" y="22219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education, location, household size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26280" y="2770632"/>
            <a:ext cx="411480" cy="411480"/>
          </a:xfrm>
          <a:prstGeom prst="ellipse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78892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047488" y="26426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Do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047488" y="29900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sales, import/export activity, traded goods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526280" y="3538728"/>
            <a:ext cx="411480" cy="41148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557016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47488" y="34107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Habits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047488" y="375818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Banking, mobile money, loans, insurance held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26280" y="4306824"/>
            <a:ext cx="411480" cy="41148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325112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047488" y="41788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Size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047488" y="4526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vs solo, turnover, expenses, age of firm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28600"/>
            <a:ext cx="1234440" cy="4663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32004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Aid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27632" y="228600"/>
            <a:ext cx="1234440" cy="466344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27632" y="32004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Lend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80944" y="228600"/>
            <a:ext cx="1234440" cy="4663440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80944" y="32004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 &amp; Grow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17720" y="256032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Matters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4617720" y="1984248"/>
            <a:ext cx="457200" cy="45720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2011680"/>
            <a:ext cx="365760" cy="3657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193792" y="178308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Governments have limited money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193792" y="2185416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can't help everyone — this tool pinpoints who needs support most.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17720" y="3008376"/>
            <a:ext cx="457200" cy="45720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3035808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193792" y="280720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are afraid to lend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193792" y="3209544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shops don't have fancy paperwork — FHI gives them a credible risk score.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617720" y="4032504"/>
            <a:ext cx="457200" cy="457200"/>
          </a:xfrm>
          <a:prstGeom prst="ellipse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4059936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93792" y="383133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about the "Rainy Day"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5193792" y="4233672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that survive shocks grow — this model identifies who will make it.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321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Approach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274320" y="1572768"/>
            <a:ext cx="201168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572768"/>
            <a:ext cx="201168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6420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897B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395728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3154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84048" y="3721608"/>
            <a:ext cx="1792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data from 4 Southern African countries — demographics, finances, attitudes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286000" y="2670048"/>
            <a:ext cx="164592" cy="73152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450592" y="1572768"/>
            <a:ext cx="201168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50592" y="1572768"/>
            <a:ext cx="2011680" cy="640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50592" y="166420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A825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392" y="2395728"/>
            <a:ext cx="640080" cy="6400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42032" y="3154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Features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2560320" y="3721608"/>
            <a:ext cx="1792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smart indicators like Financial Access Score, Profit Proxy, Insurance Score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462272" y="2670048"/>
            <a:ext cx="164592" cy="73152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626864" y="1572768"/>
            <a:ext cx="201168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626864" y="1572768"/>
            <a:ext cx="2011680" cy="64008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626864" y="166420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4A19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664" y="2395728"/>
            <a:ext cx="640080" cy="6400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718304" y="3154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Models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736592" y="3721608"/>
            <a:ext cx="1792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algorithms (Random Forest, Gradient Boosting, Extra Trees) vote together as an ensemble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638544" y="2670048"/>
            <a:ext cx="164592" cy="73152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803136" y="1572768"/>
            <a:ext cx="201168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803136" y="1572768"/>
            <a:ext cx="2011680" cy="64008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803136" y="166420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8E3C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8936" y="2395728"/>
            <a:ext cx="640080" cy="64008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894576" y="3154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Health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6912864" y="3721608"/>
            <a:ext cx="1792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LOW, MEDIUM, or HIGH health for every business — with 89% accuracy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Results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3200400" cy="35661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298448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411480" y="2999232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(Macro F1 Score)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385876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Low / Medium / High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health correctly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931920" y="1115568"/>
            <a:ext cx="4892040" cy="1051560"/>
          </a:xfrm>
          <a:prstGeom prst="rect">
            <a:avLst/>
          </a:prstGeom>
          <a:solidFill>
            <a:srgbClr val="F7F7F7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931920" y="1115568"/>
            <a:ext cx="91440" cy="105156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122529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4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5074920" y="12070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Health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74920" y="159105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Struggling businesses correctly flagged for urgent intervention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31920" y="2286000"/>
            <a:ext cx="4892040" cy="1051560"/>
          </a:xfrm>
          <a:prstGeom prst="rect">
            <a:avLst/>
          </a:prstGeom>
          <a:solidFill>
            <a:srgbClr val="F7F7F7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931920" y="2286000"/>
            <a:ext cx="91440" cy="105156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5074920" y="23774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Health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74920" y="27614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businesses identified before they fall into crisis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31920" y="3456432"/>
            <a:ext cx="4892040" cy="1051560"/>
          </a:xfrm>
          <a:prstGeom prst="rect">
            <a:avLst/>
          </a:prstGeom>
          <a:solidFill>
            <a:srgbClr val="F7F7F7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931920" y="3456432"/>
            <a:ext cx="91440" cy="10515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0" y="356616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5074920" y="35478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Health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74920" y="3931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businesses recognised for credit and growth support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931920" y="4535424"/>
            <a:ext cx="4892040" cy="3200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0" y="4535424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real data from Eswatini · Lesotho · Malawi · Zimbabwe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221284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Forward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2980944"/>
            <a:ext cx="384048" cy="38404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300837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28346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FHI model in pilot regions across all 4 countries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1480" y="3694176"/>
            <a:ext cx="384048" cy="384048"/>
          </a:xfrm>
          <a:prstGeom prst="ellipse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72160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354787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 with banks and government agencies on real-world rollout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11480" y="4407408"/>
            <a:ext cx="384048" cy="38404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" y="44348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4400" y="426110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improvements in business resilience and financial inclusion over time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206240" y="228600"/>
            <a:ext cx="4617720" cy="4681728"/>
          </a:xfrm>
          <a:prstGeom prst="rect">
            <a:avLst/>
          </a:prstGeom>
          <a:solidFill>
            <a:srgbClr val="F7F7F7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343400" y="384048"/>
            <a:ext cx="4343400" cy="5943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343400" y="384048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 for Southern Africa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4343400" y="1170432"/>
            <a:ext cx="20116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307592"/>
            <a:ext cx="640080" cy="6400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434840" y="20116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Million SMEs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434840" y="23591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financial services they were excluded from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6537960" y="1170432"/>
            <a:ext cx="20116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4A1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307592"/>
            <a:ext cx="640080" cy="6400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629400" y="20116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4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Countries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6629400" y="23591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tools to direct aid exactly where needed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4343400" y="2980944"/>
            <a:ext cx="20116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9A82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118104"/>
            <a:ext cx="640080" cy="6400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434840" y="38221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Economies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4434840" y="41696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the ground up, business by business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6537960" y="2980944"/>
            <a:ext cx="20116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760" y="3118104"/>
            <a:ext cx="640080" cy="64008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629400" y="38221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Template</a:t>
            </a:r>
            <a:endParaRPr lang="en-US" sz="1300" dirty="0"/>
          </a:p>
        </p:txBody>
      </p:sp>
      <p:sp>
        <p:nvSpPr>
          <p:cNvPr id="33" name="Text 24"/>
          <p:cNvSpPr/>
          <p:nvPr/>
        </p:nvSpPr>
        <p:spPr>
          <a:xfrm>
            <a:off x="6629400" y="41696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replicable in any developing economy worldwide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Health Index – Project Overview</dc:title>
  <dc:subject>PptxGenJS Presentation</dc:subject>
  <dc:creator>PptxGenJS</dc:creator>
  <cp:lastModifiedBy>PptxGenJS</cp:lastModifiedBy>
  <cp:revision>1</cp:revision>
  <dcterms:created xsi:type="dcterms:W3CDTF">2026-03-10T07:40:55Z</dcterms:created>
  <dcterms:modified xsi:type="dcterms:W3CDTF">2026-03-10T07:40:55Z</dcterms:modified>
</cp:coreProperties>
</file>